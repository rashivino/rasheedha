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020D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-72688"/>
            <a:ext cx="12392468" cy="7006888"/>
          </a:xfrm>
          <a:prstGeom prst="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261734" y="1417320"/>
            <a:ext cx="11729493" cy="193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rPr sz="4000" dirty="0" err="1">
                <a:solidFill>
                  <a:srgbClr val="7030A0"/>
                </a:solidFill>
                <a:latin typeface="Algerian" panose="04020705040A02060702" pitchFamily="82" charset="0"/>
              </a:rPr>
              <a:t>EduGenie</a:t>
            </a:r>
            <a:endParaRPr sz="4000" dirty="0">
              <a:solidFill>
                <a:srgbClr val="7030A0"/>
              </a:solidFill>
              <a:latin typeface="Algerian" panose="04020705040A02060702" pitchFamily="82" charset="0"/>
            </a:endParaRPr>
          </a:p>
          <a:p>
            <a:pPr algn="ctr">
              <a:defRPr sz="2600">
                <a:solidFill>
                  <a:srgbClr val="DCEBFA"/>
                </a:solidFill>
              </a:defRPr>
            </a:pPr>
            <a:r>
              <a:rPr sz="4000" dirty="0">
                <a:solidFill>
                  <a:srgbClr val="7030A0"/>
                </a:solidFill>
                <a:latin typeface="Algerian" panose="04020705040A02060702" pitchFamily="82" charset="0"/>
              </a:rPr>
              <a:t>Google Gemini Powered Learning Assistant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rPr sz="4000" dirty="0">
                <a:solidFill>
                  <a:srgbClr val="7030A0"/>
                </a:solidFill>
                <a:latin typeface="Algerian" panose="04020705040A02060702" pitchFamily="82" charset="0"/>
              </a:rPr>
              <a:t>College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82881"/>
            <a:ext cx="12191695" cy="7464213"/>
          </a:xfrm>
          <a:prstGeom prst="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12893" y="93881"/>
            <a:ext cx="5952270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F3756"/>
                </a:solidFill>
              </a:defRPr>
            </a:pPr>
            <a:r>
              <a:rPr sz="8000" dirty="0">
                <a:solidFill>
                  <a:srgbClr val="FF0000"/>
                </a:solidFill>
                <a:latin typeface="Vladimir Script" panose="03050402040407070305" pitchFamily="66" charset="0"/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600" y="1417320"/>
            <a:ext cx="10627360" cy="4785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rPr sz="4000" dirty="0" err="1">
                <a:solidFill>
                  <a:srgbClr val="7030A0"/>
                </a:solidFill>
                <a:latin typeface="Bell MT" panose="02020503060305020303" pitchFamily="18" charset="0"/>
              </a:rPr>
              <a:t>EduGenie</a:t>
            </a:r>
            <a:r>
              <a:rPr sz="4000" dirty="0">
                <a:solidFill>
                  <a:srgbClr val="7030A0"/>
                </a:solidFill>
                <a:latin typeface="Bell MT" panose="02020503060305020303" pitchFamily="18" charset="0"/>
              </a:rPr>
              <a:t> is an AI-based educational application designed to support interactive learning.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rPr sz="4000" dirty="0">
                <a:solidFill>
                  <a:srgbClr val="7030A0"/>
                </a:solidFill>
                <a:latin typeface="Bell MT" panose="02020503060305020303" pitchFamily="18" charset="0"/>
              </a:rPr>
              <a:t>It uses the Google Gemini API as its AI engine.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rPr sz="4000" dirty="0">
                <a:solidFill>
                  <a:srgbClr val="7030A0"/>
                </a:solidFill>
                <a:latin typeface="Bell MT" panose="02020503060305020303" pitchFamily="18" charset="0"/>
              </a:rPr>
              <a:t>Students can ask questions, request explanations, summaries, study notes and quizzes.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rPr sz="4000" dirty="0">
                <a:solidFill>
                  <a:srgbClr val="7030A0"/>
                </a:solidFill>
                <a:latin typeface="Bell MT" panose="02020503060305020303" pitchFamily="18" charset="0"/>
              </a:rPr>
              <a:t>The application combines AI, Python, web technologies and API integration.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807726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F3756"/>
                </a:solidFill>
              </a:defRPr>
            </a:pPr>
            <a:r>
              <a:rPr sz="8000" dirty="0">
                <a:solidFill>
                  <a:srgbClr val="FF0000"/>
                </a:solidFill>
                <a:latin typeface="Vladimir Script" panose="03050402040407070305" pitchFamily="66" charset="0"/>
              </a:rPr>
              <a:t>Pre-requisites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920" y="1780361"/>
            <a:ext cx="10678160" cy="44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rPr sz="2800" dirty="0">
                <a:solidFill>
                  <a:srgbClr val="7030A0"/>
                </a:solidFill>
                <a:latin typeface="Bell MT" panose="02020503060305020303" pitchFamily="18" charset="0"/>
              </a:rPr>
              <a:t>Hardware: computer/laptop, minimum 4 GB RAM, minimum 10 GB free storage, internet connection, keyboard and mouse.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rPr sz="2800" dirty="0">
                <a:solidFill>
                  <a:srgbClr val="7030A0"/>
                </a:solidFill>
                <a:latin typeface="Bell MT" panose="02020503060305020303" pitchFamily="18" charset="0"/>
              </a:rPr>
              <a:t>Software: Windows/Linux/macOS, Python 3.10+, Visual Studio Code or PyCharm.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rPr sz="2800" dirty="0">
                <a:solidFill>
                  <a:srgbClr val="7030A0"/>
                </a:solidFill>
                <a:latin typeface="Bell MT" panose="02020503060305020303" pitchFamily="18" charset="0"/>
              </a:rPr>
              <a:t>Web technologies: HTML, CSS and JavaScript; Flask or </a:t>
            </a:r>
            <a:r>
              <a:rPr sz="2800" dirty="0" err="1">
                <a:solidFill>
                  <a:srgbClr val="7030A0"/>
                </a:solidFill>
                <a:latin typeface="Bell MT" panose="02020503060305020303" pitchFamily="18" charset="0"/>
              </a:rPr>
              <a:t>Streamlit</a:t>
            </a:r>
            <a:r>
              <a:rPr sz="2800" dirty="0">
                <a:solidFill>
                  <a:srgbClr val="7030A0"/>
                </a:solidFill>
                <a:latin typeface="Bell MT" panose="02020503060305020303" pitchFamily="18" charset="0"/>
              </a:rPr>
              <a:t> for application development.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rPr sz="2800" dirty="0">
                <a:solidFill>
                  <a:srgbClr val="7030A0"/>
                </a:solidFill>
                <a:latin typeface="Bell MT" panose="02020503060305020303" pitchFamily="18" charset="0"/>
              </a:rPr>
              <a:t>Google Gemini API, a modern web browser, and Git/GitHub.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rPr sz="2800" dirty="0">
                <a:solidFill>
                  <a:srgbClr val="7030A0"/>
                </a:solidFill>
                <a:latin typeface="Bell MT" panose="02020503060305020303" pitchFamily="18" charset="0"/>
              </a:rPr>
              <a:t>Knowledge: Python, HTML/CSS, JavaScript basics, APIs/JSON, database fundamentals and Generative AI concepts.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60808" y="0"/>
            <a:ext cx="12191695" cy="6858000"/>
          </a:xfrm>
          <a:prstGeom prst="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6412333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F3756"/>
                </a:solidFill>
              </a:defRPr>
            </a:pPr>
            <a:r>
              <a:rPr sz="8000" dirty="0">
                <a:solidFill>
                  <a:srgbClr val="C00000"/>
                </a:solidFill>
                <a:latin typeface="Vladimir Script" panose="03050402040407070305" pitchFamily="66" charset="0"/>
              </a:rPr>
              <a:t>Project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2194560"/>
            <a:ext cx="1325880" cy="731520"/>
          </a:xfrm>
          <a:prstGeom prst="round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3756"/>
                </a:solidFill>
              </a:defRPr>
            </a:pPr>
            <a:r>
              <a:rPr dirty="0">
                <a:solidFill>
                  <a:schemeClr val="bg1">
                    <a:lumMod val="95000"/>
                  </a:schemeClr>
                </a:solidFill>
                <a:latin typeface="Bell MT" panose="02020503060305020303" pitchFamily="18" charset="0"/>
              </a:rPr>
              <a:t>User / Student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764792" y="2395728"/>
            <a:ext cx="256032" cy="292608"/>
          </a:xfrm>
          <a:prstGeom prst="rightArrow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039112" y="2194560"/>
            <a:ext cx="1325880" cy="731520"/>
          </a:xfrm>
          <a:prstGeom prst="round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3756"/>
                </a:solidFill>
              </a:defRPr>
            </a:pPr>
            <a:r>
              <a:rPr dirty="0">
                <a:solidFill>
                  <a:schemeClr val="bg1">
                    <a:lumMod val="95000"/>
                  </a:schemeClr>
                </a:solidFill>
                <a:latin typeface="Bell MT" panose="02020503060305020303" pitchFamily="18" charset="0"/>
              </a:rPr>
              <a:t>Frontend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392424" y="2395728"/>
            <a:ext cx="256032" cy="292608"/>
          </a:xfrm>
          <a:prstGeom prst="rightArrow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666744" y="2194560"/>
            <a:ext cx="1325880" cy="731520"/>
          </a:xfrm>
          <a:prstGeom prst="round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3756"/>
                </a:solidFill>
              </a:defRPr>
            </a:pPr>
            <a:r>
              <a:rPr lang="en-IN" dirty="0">
                <a:solidFill>
                  <a:schemeClr val="bg1">
                    <a:lumMod val="95000"/>
                  </a:schemeClr>
                </a:solidFill>
                <a:latin typeface="Bell MT" panose="02020503060305020303" pitchFamily="18" charset="0"/>
              </a:rPr>
              <a:t>Backend</a:t>
            </a:r>
            <a:endParaRPr dirty="0">
              <a:solidFill>
                <a:schemeClr val="bg1">
                  <a:lumMod val="95000"/>
                </a:schemeClr>
              </a:solidFill>
              <a:latin typeface="Bell MT" panose="02020503060305020303" pitchFamily="18" charset="0"/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5020056" y="2395728"/>
            <a:ext cx="256032" cy="292608"/>
          </a:xfrm>
          <a:prstGeom prst="rightArrow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294376" y="2194560"/>
            <a:ext cx="1325880" cy="731520"/>
          </a:xfrm>
          <a:prstGeom prst="round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3756"/>
                </a:solidFill>
              </a:defRPr>
            </a:pPr>
            <a:r>
              <a:rPr dirty="0">
                <a:solidFill>
                  <a:schemeClr val="bg1">
                    <a:lumMod val="95000"/>
                  </a:schemeClr>
                </a:solidFill>
                <a:latin typeface="Bell MT" panose="02020503060305020303" pitchFamily="18" charset="0"/>
              </a:rPr>
              <a:t>Gemini API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647688" y="2395728"/>
            <a:ext cx="256032" cy="292608"/>
          </a:xfrm>
          <a:prstGeom prst="rightArrow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922008" y="2194560"/>
            <a:ext cx="1325880" cy="731520"/>
          </a:xfrm>
          <a:prstGeom prst="round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3756"/>
                </a:solidFill>
              </a:defRPr>
            </a:pPr>
            <a:r>
              <a:rPr dirty="0">
                <a:solidFill>
                  <a:schemeClr val="bg1">
                    <a:lumMod val="95000"/>
                  </a:schemeClr>
                </a:solidFill>
                <a:latin typeface="Bell MT" panose="02020503060305020303" pitchFamily="18" charset="0"/>
              </a:rPr>
              <a:t>AI Processing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275320" y="2395728"/>
            <a:ext cx="256032" cy="292608"/>
          </a:xfrm>
          <a:prstGeom prst="rightArrow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549640" y="2194560"/>
            <a:ext cx="1325880" cy="731520"/>
          </a:xfrm>
          <a:prstGeom prst="round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3756"/>
                </a:solidFill>
              </a:defRPr>
            </a:pPr>
            <a:r>
              <a:rPr dirty="0">
                <a:solidFill>
                  <a:schemeClr val="bg1">
                    <a:lumMod val="95000"/>
                  </a:schemeClr>
                </a:solidFill>
              </a:rPr>
              <a:t>Response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902952" y="2395728"/>
            <a:ext cx="256032" cy="292608"/>
          </a:xfrm>
          <a:prstGeom prst="rightArrow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177272" y="2194560"/>
            <a:ext cx="1325880" cy="731520"/>
          </a:xfrm>
          <a:prstGeom prst="round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3756"/>
                </a:solidFill>
              </a:defRPr>
            </a:pPr>
            <a:r>
              <a:rPr dirty="0">
                <a:solidFill>
                  <a:schemeClr val="bg1">
                    <a:lumMod val="95000"/>
                  </a:schemeClr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User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657600"/>
            <a:ext cx="10058400" cy="2939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232323"/>
                </a:solidFill>
              </a:defRPr>
            </a:pPr>
            <a:r>
              <a:rPr sz="3200" dirty="0">
                <a:solidFill>
                  <a:srgbClr val="7030A0"/>
                </a:solidFill>
                <a:latin typeface="Bell MT" panose="02020503060305020303" pitchFamily="18" charset="0"/>
              </a:rPr>
              <a:t>The user enters a learning request.</a:t>
            </a:r>
          </a:p>
          <a:p>
            <a:pPr>
              <a:spcAft>
                <a:spcPts val="1000"/>
              </a:spcAft>
              <a:defRPr sz="1800" b="0">
                <a:solidFill>
                  <a:srgbClr val="232323"/>
                </a:solidFill>
              </a:defRPr>
            </a:pPr>
            <a:r>
              <a:rPr sz="3200" dirty="0">
                <a:solidFill>
                  <a:srgbClr val="7030A0"/>
                </a:solidFill>
                <a:latin typeface="Bell MT" panose="02020503060305020303" pitchFamily="18" charset="0"/>
              </a:rPr>
              <a:t>Frontend sends the request to the backend.</a:t>
            </a:r>
          </a:p>
          <a:p>
            <a:pPr>
              <a:spcAft>
                <a:spcPts val="1000"/>
              </a:spcAft>
              <a:defRPr sz="1800" b="0">
                <a:solidFill>
                  <a:srgbClr val="232323"/>
                </a:solidFill>
              </a:defRPr>
            </a:pPr>
            <a:r>
              <a:rPr sz="3200" dirty="0">
                <a:solidFill>
                  <a:srgbClr val="7030A0"/>
                </a:solidFill>
                <a:latin typeface="Bell MT" panose="02020503060305020303" pitchFamily="18" charset="0"/>
              </a:rPr>
              <a:t>Backend validates input and communicates with Gemini.</a:t>
            </a:r>
          </a:p>
          <a:p>
            <a:pPr>
              <a:spcAft>
                <a:spcPts val="1000"/>
              </a:spcAft>
              <a:defRPr sz="1800" b="0">
                <a:solidFill>
                  <a:srgbClr val="232323"/>
                </a:solidFill>
              </a:defRPr>
            </a:pPr>
            <a:r>
              <a:rPr sz="3200" dirty="0">
                <a:solidFill>
                  <a:srgbClr val="7030A0"/>
                </a:solidFill>
                <a:latin typeface="Bell MT" panose="02020503060305020303" pitchFamily="18" charset="0"/>
              </a:rPr>
              <a:t>Generated content returns through the backend to the student.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343129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F3756"/>
                </a:solidFill>
              </a:defRPr>
            </a:pPr>
            <a:r>
              <a:rPr sz="8000" dirty="0">
                <a:solidFill>
                  <a:srgbClr val="FF0000"/>
                </a:solidFill>
                <a:latin typeface="Vladimir Script" panose="03050402040407070305" pitchFamily="66" charset="0"/>
              </a:rPr>
              <a:t>Main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047" y="1785962"/>
            <a:ext cx="10515600" cy="4929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rPr sz="3200" dirty="0">
                <a:solidFill>
                  <a:srgbClr val="7030A0"/>
                </a:solidFill>
                <a:latin typeface="Bell MT" panose="02020503060305020303" pitchFamily="18" charset="0"/>
              </a:rPr>
              <a:t>AI-powered educational question answering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rPr sz="3200" dirty="0">
                <a:solidFill>
                  <a:srgbClr val="7030A0"/>
                </a:solidFill>
                <a:latin typeface="Bell MT" panose="02020503060305020303" pitchFamily="18" charset="0"/>
              </a:rPr>
              <a:t>Simple explanations of complex topics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rPr sz="3200" dirty="0">
                <a:solidFill>
                  <a:srgbClr val="7030A0"/>
                </a:solidFill>
                <a:latin typeface="Bell MT" panose="02020503060305020303" pitchFamily="18" charset="0"/>
              </a:rPr>
              <a:t>Text summarization and short notes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rPr sz="3200" dirty="0">
                <a:solidFill>
                  <a:srgbClr val="7030A0"/>
                </a:solidFill>
                <a:latin typeface="Bell MT" panose="02020503060305020303" pitchFamily="18" charset="0"/>
              </a:rPr>
              <a:t>Structured study-note generation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rPr sz="3200" dirty="0">
                <a:solidFill>
                  <a:srgbClr val="7030A0"/>
                </a:solidFill>
                <a:latin typeface="Bell MT" panose="02020503060305020303" pitchFamily="18" charset="0"/>
              </a:rPr>
              <a:t>Multiple-choice quiz generation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rPr sz="3200" dirty="0">
                <a:solidFill>
                  <a:srgbClr val="7030A0"/>
                </a:solidFill>
                <a:latin typeface="Bell MT" panose="02020503060305020303" pitchFamily="18" charset="0"/>
              </a:rPr>
              <a:t>Step-by-step solutions for suitable academic questions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rPr sz="3200" dirty="0">
                <a:solidFill>
                  <a:srgbClr val="7030A0"/>
                </a:solidFill>
                <a:latin typeface="Bell MT" panose="02020503060305020303" pitchFamily="18" charset="0"/>
              </a:rPr>
              <a:t>Subject-wise learning assistance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rPr sz="3200" dirty="0">
                <a:solidFill>
                  <a:srgbClr val="7030A0"/>
                </a:solidFill>
                <a:latin typeface="Bell MT" panose="02020503060305020303" pitchFamily="18" charset="0"/>
              </a:rPr>
              <a:t>Interactive AI chat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186583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F3756"/>
                </a:solidFill>
              </a:defRPr>
            </a:pPr>
            <a:r>
              <a:rPr sz="8000" dirty="0">
                <a:solidFill>
                  <a:srgbClr val="FF0000"/>
                </a:solidFill>
                <a:latin typeface="Vladimir Script" panose="03050402040407070305" pitchFamily="66" charset="0"/>
              </a:rPr>
              <a:t>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60133" y="1732788"/>
            <a:ext cx="6581987" cy="594360"/>
          </a:xfrm>
          <a:prstGeom prst="round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rPr sz="2400" dirty="0">
                <a:solidFill>
                  <a:srgbClr val="FF00FF"/>
                </a:solidFill>
                <a:latin typeface="Bell MT" panose="02020503060305020303" pitchFamily="18" charset="0"/>
              </a:rPr>
              <a:t>User / Student</a:t>
            </a:r>
          </a:p>
        </p:txBody>
      </p:sp>
      <p:sp>
        <p:nvSpPr>
          <p:cNvPr id="5" name="Down Arrow 4"/>
          <p:cNvSpPr/>
          <p:nvPr/>
        </p:nvSpPr>
        <p:spPr>
          <a:xfrm>
            <a:off x="5816600" y="2359152"/>
            <a:ext cx="731520" cy="256032"/>
          </a:xfrm>
          <a:prstGeom prst="downArrow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2849880" y="2628900"/>
            <a:ext cx="6492240" cy="594360"/>
          </a:xfrm>
          <a:prstGeom prst="round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rPr sz="2400" dirty="0">
                <a:solidFill>
                  <a:srgbClr val="FF00FF"/>
                </a:solidFill>
                <a:latin typeface="Bell MT" panose="02020503060305020303" pitchFamily="18" charset="0"/>
              </a:rPr>
              <a:t>Frontend UI — HTML / CSS / JavaScript</a:t>
            </a:r>
          </a:p>
        </p:txBody>
      </p:sp>
      <p:sp>
        <p:nvSpPr>
          <p:cNvPr id="7" name="Down Arrow 6"/>
          <p:cNvSpPr/>
          <p:nvPr/>
        </p:nvSpPr>
        <p:spPr>
          <a:xfrm>
            <a:off x="5816600" y="3298529"/>
            <a:ext cx="731520" cy="256032"/>
          </a:xfrm>
          <a:prstGeom prst="downArrow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2849880" y="3589020"/>
            <a:ext cx="6492240" cy="594360"/>
          </a:xfrm>
          <a:prstGeom prst="round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rPr sz="2400" dirty="0">
                <a:solidFill>
                  <a:srgbClr val="FF00FF"/>
                </a:solidFill>
                <a:latin typeface="Bell MT" panose="02020503060305020303" pitchFamily="18" charset="0"/>
              </a:rPr>
              <a:t>Backend — Python / Flask</a:t>
            </a:r>
          </a:p>
        </p:txBody>
      </p:sp>
      <p:sp>
        <p:nvSpPr>
          <p:cNvPr id="9" name="Down Arrow 8"/>
          <p:cNvSpPr/>
          <p:nvPr/>
        </p:nvSpPr>
        <p:spPr>
          <a:xfrm>
            <a:off x="5816600" y="4252299"/>
            <a:ext cx="731520" cy="256032"/>
          </a:xfrm>
          <a:prstGeom prst="downArrow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2849880" y="4526280"/>
            <a:ext cx="6492240" cy="594360"/>
          </a:xfrm>
          <a:prstGeom prst="round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rPr sz="2400" dirty="0">
                <a:solidFill>
                  <a:srgbClr val="FF00FF"/>
                </a:solidFill>
                <a:latin typeface="Bell MT" panose="02020503060305020303" pitchFamily="18" charset="0"/>
              </a:rPr>
              <a:t>Google Gemini API — AI Model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816600" y="5166699"/>
            <a:ext cx="731520" cy="256032"/>
          </a:xfrm>
          <a:prstGeom prst="downArrow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849880" y="5440680"/>
            <a:ext cx="6492240" cy="594360"/>
          </a:xfrm>
          <a:prstGeom prst="round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rPr sz="2400" dirty="0">
                <a:solidFill>
                  <a:srgbClr val="FF00FF"/>
                </a:solidFill>
                <a:latin typeface="Bell MT" panose="02020503060305020303" pitchFamily="18" charset="0"/>
              </a:rPr>
              <a:t>Generated Answer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744702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F3756"/>
                </a:solidFill>
              </a:defRPr>
            </a:pPr>
            <a:r>
              <a:rPr sz="8000" dirty="0">
                <a:solidFill>
                  <a:srgbClr val="FF0000"/>
                </a:solidFill>
                <a:latin typeface="Vladimir Script" panose="03050402040407070305" pitchFamily="66" charset="0"/>
              </a:rPr>
              <a:t>Architecture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4560" y="2103121"/>
            <a:ext cx="10515600" cy="3924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rPr sz="3200" dirty="0">
                <a:solidFill>
                  <a:srgbClr val="7030A0"/>
                </a:solidFill>
                <a:latin typeface="Bell MT" panose="02020503060305020303" pitchFamily="18" charset="0"/>
              </a:rPr>
              <a:t>Presentation Layer — provides the student user interface.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rPr sz="3200" dirty="0">
                <a:solidFill>
                  <a:srgbClr val="7030A0"/>
                </a:solidFill>
                <a:latin typeface="Bell MT" panose="02020503060305020303" pitchFamily="18" charset="0"/>
              </a:rPr>
              <a:t>Application Layer — handles user requests, validation and communication with Gemini.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rPr sz="3200" dirty="0">
                <a:solidFill>
                  <a:srgbClr val="7030A0"/>
                </a:solidFill>
                <a:latin typeface="Bell MT" panose="02020503060305020303" pitchFamily="18" charset="0"/>
              </a:rPr>
              <a:t>AI Layer — uses Gemini to understand questions and generate educational responses.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rPr sz="3200" dirty="0">
                <a:solidFill>
                  <a:srgbClr val="7030A0"/>
                </a:solidFill>
                <a:latin typeface="Bell MT" panose="02020503060305020303" pitchFamily="18" charset="0"/>
              </a:rPr>
              <a:t>Data Layer — can store user information, questions, answers and learning history if required.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95327"/>
            <a:ext cx="7250703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F3756"/>
                </a:solidFill>
              </a:defRPr>
            </a:pPr>
            <a:r>
              <a:rPr sz="8000" dirty="0">
                <a:solidFill>
                  <a:srgbClr val="FF0000"/>
                </a:solidFill>
                <a:latin typeface="Vladimir Script" panose="03050402040407070305" pitchFamily="66" charset="0"/>
              </a:rPr>
              <a:t>Core Functionalities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84707"/>
            <a:ext cx="10515600" cy="5473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rPr sz="2800" dirty="0">
                <a:solidFill>
                  <a:srgbClr val="7030A0"/>
                </a:solidFill>
                <a:latin typeface="Bell MT" panose="02020503060305020303" pitchFamily="18" charset="0"/>
              </a:rPr>
              <a:t>AI Question Answering — for example, explaining photosynthesis in simple words.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rPr sz="2800" dirty="0">
                <a:solidFill>
                  <a:srgbClr val="7030A0"/>
                </a:solidFill>
                <a:latin typeface="Bell MT" panose="02020503060305020303" pitchFamily="18" charset="0"/>
              </a:rPr>
              <a:t>Summarization — converts long paragraphs or topics into short notes.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rPr sz="2800" dirty="0">
                <a:solidFill>
                  <a:srgbClr val="7030A0"/>
                </a:solidFill>
                <a:latin typeface="Bell MT" panose="02020503060305020303" pitchFamily="18" charset="0"/>
              </a:rPr>
              <a:t>Study Notes — generates definitions, important points, examples, key terms and a summary.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rPr sz="2800" dirty="0">
                <a:solidFill>
                  <a:srgbClr val="7030A0"/>
                </a:solidFill>
                <a:latin typeface="Bell MT" panose="02020503060305020303" pitchFamily="18" charset="0"/>
              </a:rPr>
              <a:t>Quiz Generation — creates multiple-choice questions for a selected topic.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rPr sz="2800" dirty="0">
                <a:solidFill>
                  <a:srgbClr val="7030A0"/>
                </a:solidFill>
                <a:latin typeface="Bell MT" panose="02020503060305020303" pitchFamily="18" charset="0"/>
              </a:rPr>
              <a:t>Step-by-Step Learning — explains suitable academic problems progressively.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rPr sz="2800" dirty="0">
                <a:solidFill>
                  <a:srgbClr val="7030A0"/>
                </a:solidFill>
                <a:latin typeface="Bell MT" panose="02020503060305020303" pitchFamily="18" charset="0"/>
              </a:rPr>
              <a:t>AI Chat — supports conversational interaction with the learning assistant.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965642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F3756"/>
                </a:solidFill>
              </a:defRPr>
            </a:pPr>
            <a:r>
              <a:rPr sz="8000" dirty="0">
                <a:solidFill>
                  <a:srgbClr val="FF0000"/>
                </a:solidFill>
                <a:latin typeface="Vladimir Script" panose="03050402040407070305" pitchFamily="66" charset="0"/>
              </a:rPr>
              <a:t>Frontend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9054"/>
            <a:ext cx="10515600" cy="461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rPr sz="2800" dirty="0">
                <a:latin typeface="Bell MT" panose="02020503060305020303" pitchFamily="18" charset="0"/>
              </a:rPr>
              <a:t>HTML, CSS and JavaScript form the main frontend technologies.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rPr sz="2800" dirty="0">
                <a:latin typeface="Bell MT" panose="02020503060305020303" pitchFamily="18" charset="0"/>
              </a:rPr>
              <a:t>Home Page: project name, welcome message and Start Learning button.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rPr sz="2800" dirty="0">
                <a:latin typeface="Bell MT" panose="02020503060305020303" pitchFamily="18" charset="0"/>
              </a:rPr>
              <a:t>AI Chat Page: question input, send button, AI response area and chat history.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rPr sz="2800" dirty="0">
                <a:latin typeface="Bell MT" panose="02020503060305020303" pitchFamily="18" charset="0"/>
              </a:rPr>
              <a:t>Quiz Page: topic input, question count, generated quiz and answer options.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rPr sz="2800" dirty="0">
                <a:latin typeface="Bell MT" panose="02020503060305020303" pitchFamily="18" charset="0"/>
              </a:rPr>
              <a:t>Notes Page: topic input, Generate Notes button and generated notes.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rPr sz="2800" dirty="0">
                <a:latin typeface="Bell MT" panose="02020503060305020303" pitchFamily="18" charset="0"/>
              </a:rPr>
              <a:t>Bootstrap can be used optionally for responsive UI components.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9966190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F3756"/>
                </a:solidFill>
              </a:defRPr>
            </a:pPr>
            <a:r>
              <a:rPr sz="8000" dirty="0">
                <a:solidFill>
                  <a:srgbClr val="FF0000"/>
                </a:solidFill>
                <a:latin typeface="Vladimir Script" panose="03050402040407070305" pitchFamily="66" charset="0"/>
              </a:rPr>
              <a:t>Backend &amp; API Endpoints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047" y="1643479"/>
            <a:ext cx="10515600" cy="486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rPr sz="2800" dirty="0">
                <a:solidFill>
                  <a:srgbClr val="7030A0"/>
                </a:solidFill>
                <a:latin typeface="Bell MT" panose="02020503060305020303" pitchFamily="18" charset="0"/>
              </a:rPr>
              <a:t>Flask application serves the frontend and provides REST-style endpoints.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rPr sz="2800" dirty="0">
                <a:solidFill>
                  <a:srgbClr val="7030A0"/>
                </a:solidFill>
                <a:latin typeface="Bell MT" panose="02020503060305020303" pitchFamily="18" charset="0"/>
              </a:rPr>
              <a:t>/</a:t>
            </a:r>
            <a:r>
              <a:rPr sz="2800" dirty="0" err="1">
                <a:solidFill>
                  <a:srgbClr val="7030A0"/>
                </a:solidFill>
                <a:latin typeface="Bell MT" panose="02020503060305020303" pitchFamily="18" charset="0"/>
              </a:rPr>
              <a:t>api</a:t>
            </a:r>
            <a:r>
              <a:rPr sz="2800" dirty="0">
                <a:solidFill>
                  <a:srgbClr val="7030A0"/>
                </a:solidFill>
                <a:latin typeface="Bell MT" panose="02020503060305020303" pitchFamily="18" charset="0"/>
              </a:rPr>
              <a:t>/health — checks application and Gemini configuration status.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rPr sz="2800" dirty="0">
                <a:solidFill>
                  <a:srgbClr val="7030A0"/>
                </a:solidFill>
                <a:latin typeface="Bell MT" panose="02020503060305020303" pitchFamily="18" charset="0"/>
              </a:rPr>
              <a:t>/</a:t>
            </a:r>
            <a:r>
              <a:rPr sz="2800" dirty="0" err="1">
                <a:solidFill>
                  <a:srgbClr val="7030A0"/>
                </a:solidFill>
                <a:latin typeface="Bell MT" panose="02020503060305020303" pitchFamily="18" charset="0"/>
              </a:rPr>
              <a:t>api</a:t>
            </a:r>
            <a:r>
              <a:rPr sz="2800" dirty="0">
                <a:solidFill>
                  <a:srgbClr val="7030A0"/>
                </a:solidFill>
                <a:latin typeface="Bell MT" panose="02020503060305020303" pitchFamily="18" charset="0"/>
              </a:rPr>
              <a:t>/ask — answers an educational question.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rPr sz="2800" dirty="0">
                <a:solidFill>
                  <a:srgbClr val="7030A0"/>
                </a:solidFill>
                <a:latin typeface="Bell MT" panose="02020503060305020303" pitchFamily="18" charset="0"/>
              </a:rPr>
              <a:t>/</a:t>
            </a:r>
            <a:r>
              <a:rPr sz="2800" dirty="0" err="1">
                <a:solidFill>
                  <a:srgbClr val="7030A0"/>
                </a:solidFill>
                <a:latin typeface="Bell MT" panose="02020503060305020303" pitchFamily="18" charset="0"/>
              </a:rPr>
              <a:t>api</a:t>
            </a:r>
            <a:r>
              <a:rPr sz="2800" dirty="0">
                <a:solidFill>
                  <a:srgbClr val="7030A0"/>
                </a:solidFill>
                <a:latin typeface="Bell MT" panose="02020503060305020303" pitchFamily="18" charset="0"/>
              </a:rPr>
              <a:t>/summary — generates a summary from supplied content.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rPr sz="2800" dirty="0">
                <a:solidFill>
                  <a:srgbClr val="7030A0"/>
                </a:solidFill>
                <a:latin typeface="Bell MT" panose="02020503060305020303" pitchFamily="18" charset="0"/>
              </a:rPr>
              <a:t>/</a:t>
            </a:r>
            <a:r>
              <a:rPr sz="2800" dirty="0" err="1">
                <a:solidFill>
                  <a:srgbClr val="7030A0"/>
                </a:solidFill>
                <a:latin typeface="Bell MT" panose="02020503060305020303" pitchFamily="18" charset="0"/>
              </a:rPr>
              <a:t>api</a:t>
            </a:r>
            <a:r>
              <a:rPr sz="2800" dirty="0">
                <a:solidFill>
                  <a:srgbClr val="7030A0"/>
                </a:solidFill>
                <a:latin typeface="Bell MT" panose="02020503060305020303" pitchFamily="18" charset="0"/>
              </a:rPr>
              <a:t>/notes — generates study notes for a topic.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rPr sz="2800" dirty="0">
                <a:solidFill>
                  <a:srgbClr val="7030A0"/>
                </a:solidFill>
                <a:latin typeface="Bell MT" panose="02020503060305020303" pitchFamily="18" charset="0"/>
              </a:rPr>
              <a:t>/</a:t>
            </a:r>
            <a:r>
              <a:rPr sz="2800" dirty="0" err="1">
                <a:solidFill>
                  <a:srgbClr val="7030A0"/>
                </a:solidFill>
                <a:latin typeface="Bell MT" panose="02020503060305020303" pitchFamily="18" charset="0"/>
              </a:rPr>
              <a:t>api</a:t>
            </a:r>
            <a:r>
              <a:rPr sz="2800" dirty="0">
                <a:solidFill>
                  <a:srgbClr val="7030A0"/>
                </a:solidFill>
                <a:latin typeface="Bell MT" panose="02020503060305020303" pitchFamily="18" charset="0"/>
              </a:rPr>
              <a:t>/quiz — generates a quiz with a controlled question count.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rPr sz="2800" dirty="0">
                <a:solidFill>
                  <a:srgbClr val="7030A0"/>
                </a:solidFill>
                <a:latin typeface="Bell MT" panose="02020503060305020303" pitchFamily="18" charset="0"/>
              </a:rPr>
              <a:t>/</a:t>
            </a:r>
            <a:r>
              <a:rPr sz="2800" dirty="0" err="1">
                <a:solidFill>
                  <a:srgbClr val="7030A0"/>
                </a:solidFill>
                <a:latin typeface="Bell MT" panose="02020503060305020303" pitchFamily="18" charset="0"/>
              </a:rPr>
              <a:t>api</a:t>
            </a:r>
            <a:r>
              <a:rPr sz="2800" dirty="0">
                <a:solidFill>
                  <a:srgbClr val="7030A0"/>
                </a:solidFill>
                <a:latin typeface="Bell MT" panose="02020503060305020303" pitchFamily="18" charset="0"/>
              </a:rPr>
              <a:t>/step-by-step — produces step-by-step learning assistance.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rPr sz="2800" dirty="0">
                <a:solidFill>
                  <a:srgbClr val="7030A0"/>
                </a:solidFill>
                <a:latin typeface="Bell MT" panose="02020503060305020303" pitchFamily="18" charset="0"/>
              </a:rPr>
              <a:t>/</a:t>
            </a:r>
            <a:r>
              <a:rPr sz="2800" dirty="0" err="1">
                <a:solidFill>
                  <a:srgbClr val="7030A0"/>
                </a:solidFill>
                <a:latin typeface="Bell MT" panose="02020503060305020303" pitchFamily="18" charset="0"/>
              </a:rPr>
              <a:t>api</a:t>
            </a:r>
            <a:r>
              <a:rPr sz="2800" dirty="0">
                <a:solidFill>
                  <a:srgbClr val="7030A0"/>
                </a:solidFill>
                <a:latin typeface="Bell MT" panose="02020503060305020303" pitchFamily="18" charset="0"/>
              </a:rPr>
              <a:t>/chat — handles recent user/assistant conversation messages.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463121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F3756"/>
                </a:solidFill>
              </a:defRPr>
            </a:pPr>
            <a:r>
              <a:rPr sz="8000" dirty="0">
                <a:solidFill>
                  <a:srgbClr val="FF0000"/>
                </a:solidFill>
                <a:latin typeface="Vladimir Script" panose="03050402040407070305" pitchFamily="66" charset="0"/>
              </a:rPr>
              <a:t>Validation &amp; Error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4560" y="1524625"/>
            <a:ext cx="10515600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rPr sz="3200" dirty="0">
                <a:solidFill>
                  <a:srgbClr val="7030A0"/>
                </a:solidFill>
                <a:latin typeface="Bell MT" panose="02020503060305020303" pitchFamily="18" charset="0"/>
              </a:rPr>
              <a:t>JSON request bodies are validated before processing.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rPr sz="3200" dirty="0">
                <a:solidFill>
                  <a:srgbClr val="7030A0"/>
                </a:solidFill>
                <a:latin typeface="Bell MT" panose="02020503060305020303" pitchFamily="18" charset="0"/>
              </a:rPr>
              <a:t>Required text fields are checked for valid, non-empty input.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rPr sz="3200" dirty="0">
                <a:solidFill>
                  <a:srgbClr val="7030A0"/>
                </a:solidFill>
                <a:latin typeface="Bell MT" panose="02020503060305020303" pitchFamily="18" charset="0"/>
              </a:rPr>
              <a:t>Quiz question count is converted to a number and limited to 1–15.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rPr sz="3200" dirty="0">
                <a:solidFill>
                  <a:srgbClr val="7030A0"/>
                </a:solidFill>
                <a:latin typeface="Bell MT" panose="02020503060305020303" pitchFamily="18" charset="0"/>
              </a:rPr>
              <a:t>Chat messages are validated for role and content.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rPr sz="3200" dirty="0">
                <a:solidFill>
                  <a:srgbClr val="7030A0"/>
                </a:solidFill>
                <a:latin typeface="Bell MT" panose="02020503060305020303" pitchFamily="18" charset="0"/>
              </a:rPr>
              <a:t>Only recent chat messages are retained for processing.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rPr sz="3200" dirty="0">
                <a:solidFill>
                  <a:srgbClr val="7030A0"/>
                </a:solidFill>
                <a:latin typeface="Bell MT" panose="02020503060305020303" pitchFamily="18" charset="0"/>
              </a:rPr>
              <a:t>HTTP 400 responses handle invalid requests; HTTP 500 responses handle server-side errors.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rPr sz="3200" dirty="0">
                <a:solidFill>
                  <a:srgbClr val="7030A0"/>
                </a:solidFill>
                <a:latin typeface="Bell MT" panose="02020503060305020303" pitchFamily="18" charset="0"/>
              </a:rPr>
              <a:t>A 404 handler reports requests for unavailable pages.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6011582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F3756"/>
                </a:solidFill>
              </a:defRPr>
            </a:pPr>
            <a:r>
              <a:rPr sz="8000" dirty="0">
                <a:solidFill>
                  <a:srgbClr val="FF0000"/>
                </a:solidFill>
                <a:latin typeface="Vladimir Script" panose="03050402040407070305" pitchFamily="66" charset="0"/>
              </a:rPr>
              <a:t>Testing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6893" y="1732101"/>
            <a:ext cx="10515600" cy="5037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rPr sz="3200" dirty="0">
                <a:solidFill>
                  <a:srgbClr val="7030A0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Unit Testing — tests individual application functions.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rPr sz="3200" dirty="0">
                <a:solidFill>
                  <a:srgbClr val="7030A0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Integration Testing — checks communication between frontend, backend and Gemini API.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rPr sz="3200" dirty="0">
                <a:solidFill>
                  <a:srgbClr val="7030A0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Functional Testing — verifies question answering, notes and quiz features.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rPr sz="3200" dirty="0">
                <a:solidFill>
                  <a:srgbClr val="7030A0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UI Testing — checks buttons, input fields, menus and page layouts.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rPr sz="3200" dirty="0">
                <a:solidFill>
                  <a:srgbClr val="7030A0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Performance Testing — checks response time and application performance.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6718506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F3756"/>
                </a:solidFill>
              </a:defRPr>
            </a:pPr>
            <a:r>
              <a:rPr sz="8000" dirty="0">
                <a:solidFill>
                  <a:srgbClr val="FF0000"/>
                </a:solidFill>
                <a:latin typeface="Vladimir Script" panose="03050402040407070305" pitchFamily="66" charset="0"/>
              </a:rPr>
              <a:t>Sample Test Cases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903095"/>
              </p:ext>
            </p:extLst>
          </p:nvPr>
        </p:nvGraphicFramePr>
        <p:xfrm>
          <a:off x="731520" y="1906693"/>
          <a:ext cx="10698480" cy="43891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Test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Expected 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323"/>
                          </a:solidFill>
                        </a:defRPr>
                      </a:pPr>
                      <a:r>
                        <a:t>Question Answer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323"/>
                          </a:solidFill>
                        </a:defRPr>
                      </a:pPr>
                      <a:r>
                        <a:t>“What is RAM?”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323"/>
                          </a:solidFill>
                        </a:defRPr>
                      </a:pPr>
                      <a:r>
                        <a:t>Correct explanation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323"/>
                          </a:solidFill>
                        </a:defRPr>
                      </a:pPr>
                      <a:r>
                        <a:t>Notes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323"/>
                          </a:solidFill>
                        </a:defRPr>
                      </a:pPr>
                      <a:r>
                        <a:t>“Computer Networks”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323"/>
                          </a:solidFill>
                        </a:defRPr>
                      </a:pPr>
                      <a:r>
                        <a:t>Study notes generated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323"/>
                          </a:solidFill>
                        </a:defRPr>
                      </a:pPr>
                      <a:r>
                        <a:t>Quiz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323"/>
                          </a:solidFill>
                        </a:defRPr>
                      </a:pPr>
                      <a:r>
                        <a:t>“Python”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323"/>
                          </a:solidFill>
                        </a:defRPr>
                      </a:pPr>
                      <a:r>
                        <a:t>Quiz questions generated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323"/>
                          </a:solidFill>
                        </a:defRPr>
                      </a:pPr>
                      <a:r>
                        <a:t>Empty 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323"/>
                          </a:solidFill>
                        </a:defRPr>
                      </a:pPr>
                      <a:r>
                        <a:t>Blank question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323"/>
                          </a:solidFill>
                        </a:defRPr>
                      </a:pPr>
                      <a:r>
                        <a:t>Validation message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323"/>
                          </a:solidFill>
                        </a:defRPr>
                      </a:pPr>
                      <a:r>
                        <a:rPr dirty="0"/>
                        <a:t>Invalid Request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323"/>
                          </a:solidFill>
                        </a:defRPr>
                      </a:pPr>
                      <a:r>
                        <a:t>Invalid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323"/>
                          </a:solidFill>
                        </a:defRPr>
                      </a:pPr>
                      <a:r>
                        <a:rPr dirty="0"/>
                        <a:t>Error handled properly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301177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F3756"/>
                </a:solidFill>
              </a:defRPr>
            </a:pPr>
            <a:r>
              <a:rPr sz="8000" dirty="0">
                <a:solidFill>
                  <a:srgbClr val="FF0000"/>
                </a:solidFill>
                <a:latin typeface="Vladimir Script" panose="03050402040407070305" pitchFamily="66" charset="0"/>
              </a:rPr>
              <a:t>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47520"/>
            <a:ext cx="10515600" cy="430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rPr sz="2800" dirty="0">
                <a:solidFill>
                  <a:srgbClr val="7030A0"/>
                </a:solidFill>
                <a:latin typeface="Bell MT" panose="02020503060305020303" pitchFamily="18" charset="0"/>
              </a:rPr>
              <a:t>Complete application development and test the application locally.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rPr sz="2800" dirty="0">
                <a:solidFill>
                  <a:srgbClr val="7030A0"/>
                </a:solidFill>
                <a:latin typeface="Bell MT" panose="02020503060305020303" pitchFamily="18" charset="0"/>
              </a:rPr>
              <a:t>Create a requirements file for dependencies.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rPr sz="2800" dirty="0">
                <a:solidFill>
                  <a:srgbClr val="7030A0"/>
                </a:solidFill>
                <a:latin typeface="Bell MT" panose="02020503060305020303" pitchFamily="18" charset="0"/>
              </a:rPr>
              <a:t>Configure the Gemini API key securely using environment variables.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rPr sz="2800" dirty="0">
                <a:solidFill>
                  <a:srgbClr val="7030A0"/>
                </a:solidFill>
                <a:latin typeface="Bell MT" panose="02020503060305020303" pitchFamily="18" charset="0"/>
              </a:rPr>
              <a:t>Upload the project to a hosting/cloud platform.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rPr sz="2800" dirty="0">
                <a:solidFill>
                  <a:srgbClr val="7030A0"/>
                </a:solidFill>
                <a:latin typeface="Bell MT" panose="02020503060305020303" pitchFamily="18" charset="0"/>
              </a:rPr>
              <a:t>Configure environment variables on the deployment platform.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rPr sz="2800" dirty="0">
                <a:solidFill>
                  <a:srgbClr val="7030A0"/>
                </a:solidFill>
                <a:latin typeface="Bell MT" panose="02020503060305020303" pitchFamily="18" charset="0"/>
              </a:rPr>
              <a:t>Deploy the application and test the live version.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rPr sz="2800" dirty="0">
                <a:solidFill>
                  <a:srgbClr val="7030A0"/>
                </a:solidFill>
                <a:latin typeface="Bell MT" panose="02020503060305020303" pitchFamily="18" charset="0"/>
              </a:rPr>
              <a:t>The Gemini API key should not be placed directly in publicly accessible frontend code</a:t>
            </a:r>
            <a:r>
              <a:rPr sz="2800" dirty="0">
                <a:latin typeface="Bell MT" panose="02020503060305020303" pitchFamily="18" charset="0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5325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F3756"/>
                </a:solidFill>
              </a:defRPr>
            </a:pPr>
            <a:r>
              <a:rPr sz="7200" dirty="0">
                <a:solidFill>
                  <a:srgbClr val="FF0000"/>
                </a:solidFill>
                <a:latin typeface="Vladimir Script" panose="03050402040407070305" pitchFamily="66" charset="0"/>
              </a:rPr>
              <a:t>Configuration &amp; Project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085" y="1840409"/>
            <a:ext cx="10515600" cy="4544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rPr sz="3200" dirty="0">
                <a:solidFill>
                  <a:srgbClr val="7030A0"/>
                </a:solidFill>
                <a:latin typeface="Bell MT" panose="02020503060305020303" pitchFamily="18" charset="0"/>
              </a:rPr>
              <a:t>Main application: main.py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rPr sz="3200" dirty="0">
                <a:solidFill>
                  <a:srgbClr val="7030A0"/>
                </a:solidFill>
                <a:latin typeface="Bell MT" panose="02020503060305020303" pitchFamily="18" charset="0"/>
              </a:rPr>
              <a:t>AI integration: </a:t>
            </a:r>
            <a:r>
              <a:rPr sz="3200" dirty="0" err="1">
                <a:solidFill>
                  <a:srgbClr val="7030A0"/>
                </a:solidFill>
                <a:latin typeface="Bell MT" panose="02020503060305020303" pitchFamily="18" charset="0"/>
              </a:rPr>
              <a:t>services.gemini_service</a:t>
            </a:r>
            <a:r>
              <a:rPr sz="3200" dirty="0">
                <a:solidFill>
                  <a:srgbClr val="7030A0"/>
                </a:solidFill>
                <a:latin typeface="Bell MT" panose="02020503060305020303" pitchFamily="18" charset="0"/>
              </a:rPr>
              <a:t> module.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rPr sz="3200" dirty="0">
                <a:solidFill>
                  <a:srgbClr val="7030A0"/>
                </a:solidFill>
                <a:latin typeface="Bell MT" panose="02020503060305020303" pitchFamily="18" charset="0"/>
              </a:rPr>
              <a:t>Environment configuration: .env file.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rPr sz="3200" dirty="0">
                <a:solidFill>
                  <a:srgbClr val="7030A0"/>
                </a:solidFill>
                <a:latin typeface="Bell MT" panose="02020503060305020303" pitchFamily="18" charset="0"/>
              </a:rPr>
              <a:t>Important environment values in the document: GEMINI_API_KEY, GEMINI_MODEL, FLASK_DEBUG and PORT.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rPr sz="3200" dirty="0">
                <a:solidFill>
                  <a:srgbClr val="7030A0"/>
                </a:solidFill>
                <a:latin typeface="Bell MT" panose="02020503060305020303" pitchFamily="18" charset="0"/>
              </a:rPr>
              <a:t>The Flask application uses the configured PORT and FLASK_DEBUG values when starting</a:t>
            </a:r>
            <a:r>
              <a:rPr dirty="0">
                <a:solidFill>
                  <a:srgbClr val="7030A0"/>
                </a:solidFill>
                <a:latin typeface="Bell MT" panose="02020503060305020303" pitchFamily="18" charset="0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547259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F3756"/>
                </a:solidFill>
              </a:defRPr>
            </a:pPr>
            <a:r>
              <a:rPr sz="8000" dirty="0">
                <a:solidFill>
                  <a:srgbClr val="FF0000"/>
                </a:solidFill>
                <a:latin typeface="Vladimir Script" panose="03050402040407070305" pitchFamily="66" charset="0"/>
              </a:rPr>
              <a:t>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5360" y="1963519"/>
            <a:ext cx="10515600" cy="40575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rPr sz="3600" dirty="0">
                <a:solidFill>
                  <a:srgbClr val="7030A0"/>
                </a:solidFill>
                <a:latin typeface="Bell MT" panose="02020503060305020303" pitchFamily="18" charset="0"/>
              </a:rPr>
              <a:t>Voice interaction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rPr sz="3600" dirty="0">
                <a:solidFill>
                  <a:srgbClr val="7030A0"/>
                </a:solidFill>
                <a:latin typeface="Bell MT" panose="02020503060305020303" pitchFamily="18" charset="0"/>
              </a:rPr>
              <a:t>Personalized learning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rPr sz="3600" dirty="0">
                <a:solidFill>
                  <a:srgbClr val="7030A0"/>
                </a:solidFill>
                <a:latin typeface="Bell MT" panose="02020503060305020303" pitchFamily="18" charset="0"/>
              </a:rPr>
              <a:t>Progress tracking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rPr sz="3600" dirty="0">
                <a:solidFill>
                  <a:srgbClr val="7030A0"/>
                </a:solidFill>
                <a:latin typeface="Bell MT" panose="02020503060305020303" pitchFamily="18" charset="0"/>
              </a:rPr>
              <a:t>Multilingual support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rPr sz="3600" dirty="0">
                <a:solidFill>
                  <a:srgbClr val="7030A0"/>
                </a:solidFill>
                <a:latin typeface="Bell MT" panose="02020503060305020303" pitchFamily="18" charset="0"/>
              </a:rPr>
              <a:t>Document/PDF analysis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rPr sz="3600" dirty="0">
                <a:solidFill>
                  <a:srgbClr val="7030A0"/>
                </a:solidFill>
                <a:latin typeface="Bell MT" panose="02020503060305020303" pitchFamily="18" charset="0"/>
              </a:rPr>
              <a:t>Personalized quizzes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969356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F3756"/>
                </a:solidFill>
              </a:defRPr>
            </a:pPr>
            <a:r>
              <a:rPr sz="8000" dirty="0">
                <a:solidFill>
                  <a:srgbClr val="FF0000"/>
                </a:solidFill>
                <a:latin typeface="Vladimir Script" panose="03050402040407070305" pitchFamily="66" charset="0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3479"/>
            <a:ext cx="10515600" cy="3924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rPr sz="2800" dirty="0" err="1">
                <a:solidFill>
                  <a:srgbClr val="7030A0"/>
                </a:solidFill>
                <a:latin typeface="Bell MT" panose="02020503060305020303" pitchFamily="18" charset="0"/>
              </a:rPr>
              <a:t>EduGenie</a:t>
            </a:r>
            <a:r>
              <a:rPr sz="2800" dirty="0">
                <a:solidFill>
                  <a:srgbClr val="7030A0"/>
                </a:solidFill>
                <a:latin typeface="Bell MT" panose="02020503060305020303" pitchFamily="18" charset="0"/>
              </a:rPr>
              <a:t> demonstrates how Generative AI can be integrated into an educational application.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rPr sz="2800" dirty="0">
                <a:solidFill>
                  <a:srgbClr val="7030A0"/>
                </a:solidFill>
                <a:latin typeface="Bell MT" panose="02020503060305020303" pitchFamily="18" charset="0"/>
              </a:rPr>
              <a:t>Google Gemini provides interactive assistance for questions, explanations, summaries, study notes and quizzes.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rPr sz="2800" dirty="0">
                <a:solidFill>
                  <a:srgbClr val="7030A0"/>
                </a:solidFill>
                <a:latin typeface="Bell MT" panose="02020503060305020303" pitchFamily="18" charset="0"/>
              </a:rPr>
              <a:t>The project combines AI, Python, web technologies and API integration to present complex topics in a student-friendly format.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rPr sz="2800" dirty="0">
                <a:solidFill>
                  <a:srgbClr val="7030A0"/>
                </a:solidFill>
                <a:latin typeface="Bell MT" panose="02020503060305020303" pitchFamily="18" charset="0"/>
              </a:rPr>
              <a:t>The documented architecture and modular API design provide a foundation for future learning features.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71559" y="5729823"/>
            <a:ext cx="2630848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F3756"/>
                </a:solidFill>
              </a:defRPr>
            </a:pPr>
            <a:r>
              <a:rPr sz="4800" dirty="0">
                <a:solidFill>
                  <a:srgbClr val="FF00FF"/>
                </a:solidFill>
                <a:latin typeface="Vladimir Script" panose="03050402040407070305" pitchFamily="66" charset="0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984</Words>
  <Application>Microsoft Office PowerPoint</Application>
  <PresentationFormat>Widescreen</PresentationFormat>
  <Paragraphs>145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Algerian</vt:lpstr>
      <vt:lpstr>Arial</vt:lpstr>
      <vt:lpstr>Bell MT</vt:lpstr>
      <vt:lpstr>Calibri</vt:lpstr>
      <vt:lpstr>Vladimir Script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azhar ali</cp:lastModifiedBy>
  <cp:revision>2</cp:revision>
  <dcterms:created xsi:type="dcterms:W3CDTF">2013-01-27T09:14:16Z</dcterms:created>
  <dcterms:modified xsi:type="dcterms:W3CDTF">2026-09-26T16:37:59Z</dcterms:modified>
  <cp:category/>
</cp:coreProperties>
</file>